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7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charts/_rels/chart1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1A2E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A1A2E"/>
                </a:solidFill>
                <a:latin typeface="Arial"/>
              </a:rPr>
              <a:t>Completed Bookings by Vehicle Type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Completed Bookings</c:v>
                </c:pt>
              </c:strCache>
            </c:strRef>
          </c:tx>
          <c:spPr>
            <a:solidFill>
              <a:srgbClr val="0077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77B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96C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8CAE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0E0E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ADE8F4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CAF0F8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Auto</c:v>
                  </c:pt>
                  <c:pt idx="1">
                    <c:v>Bike</c:v>
                  </c:pt>
                  <c:pt idx="2">
                    <c:v>Go Mini</c:v>
                  </c:pt>
                  <c:pt idx="3">
                    <c:v>Go Sedan</c:v>
                  </c:pt>
                  <c:pt idx="4">
                    <c:v>Premier</c:v>
                  </c:pt>
                  <c:pt idx="5">
                    <c:v>Uber XL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23128</c:v>
                </c:pt>
                <c:pt idx="1">
                  <c:v>14026</c:v>
                </c:pt>
                <c:pt idx="2">
                  <c:v>18529</c:v>
                </c:pt>
                <c:pt idx="3">
                  <c:v>15200</c:v>
                </c:pt>
                <c:pt idx="4">
                  <c:v>9800</c:v>
                </c:pt>
                <c:pt idx="5">
                  <c:v>4449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55A6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55A6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300" b="0" i="0" u="none" strike="noStrike">
                <a:solidFill>
                  <a:srgbClr val="FFFFFF"/>
                </a:solidFill>
                <a:latin typeface="Arial"/>
              </a:rPr>
              <a:t>Rider Type Distribution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Rider Type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B4D8"/>
              </a:solidFill>
              <a:effectLst/>
            </c:spPr>
          </c:dPt>
          <c:dPt>
            <c:idx val="1"/>
            <c:bubble3D val="0"/>
            <c:spPr>
              <a:solidFill>
                <a:srgbClr val="FF6D00"/>
              </a:solidFill>
              <a:effectLst/>
            </c:spPr>
          </c:dPt>
          <c:dPt>
            <c:idx val="2"/>
            <c:bubble3D val="0"/>
            <c:spPr>
              <a:solidFill>
                <a:srgbClr val="00C853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First Time</c:v>
                </c:pt>
                <c:pt idx="1">
                  <c:v>Return Rider</c:v>
                </c:pt>
                <c:pt idx="2">
                  <c:v>Regular Rider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42</c:v>
                </c:pt>
                <c:pt idx="1">
                  <c:v>28</c:v>
                </c:pt>
                <c:pt idx="2">
                  <c:v>30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1E293B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1A2E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A1A2E"/>
                </a:solidFill>
                <a:latin typeface="Arial"/>
              </a:rPr>
              <a:t>Bookings by Payment Method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Transactions</c:v>
                </c:pt>
              </c:strCache>
            </c:strRef>
          </c:tx>
          <c:spPr>
            <a:solidFill>
              <a:srgbClr val="0077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UPI</c:v>
                  </c:pt>
                  <c:pt idx="1">
                    <c:v>Cash</c:v>
                  </c:pt>
                  <c:pt idx="2">
                    <c:v>Uber Wallet</c:v>
                  </c:pt>
                  <c:pt idx="3">
                    <c:v>Credit Card</c:v>
                  </c:pt>
                  <c:pt idx="4">
                    <c:v>Debit Card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2500</c:v>
                </c:pt>
                <c:pt idx="1">
                  <c:v>1400</c:v>
                </c:pt>
                <c:pt idx="2">
                  <c:v>600</c:v>
                </c:pt>
                <c:pt idx="3">
                  <c:v>500</c:v>
                </c:pt>
                <c:pt idx="4">
                  <c:v>400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55A6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55A6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1A2E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A1A2E"/>
                </a:solidFill>
                <a:latin typeface="Arial"/>
              </a:rPr>
              <a:t>Monthly Booking Value Trend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Booking Value (M)</c:v>
                </c:pt>
              </c:strCache>
            </c:strRef>
          </c:tx>
          <c:spPr>
            <a:solidFill>
              <a:srgbClr val="00B4D8"/>
            </a:solidFill>
            <a:ln w="38100" cap="flat">
              <a:solidFill>
                <a:srgbClr val="00B4D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B4D8"/>
              </a:solidFill>
              <a:ln w="9525" cap="flat">
                <a:solidFill>
                  <a:srgbClr val="00B4D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2.5</c:v>
                </c:pt>
                <c:pt idx="1">
                  <c:v>2.4</c:v>
                </c:pt>
                <c:pt idx="2">
                  <c:v>2.6</c:v>
                </c:pt>
                <c:pt idx="3">
                  <c:v>2.5</c:v>
                </c:pt>
                <c:pt idx="4">
                  <c:v>2.6</c:v>
                </c:pt>
                <c:pt idx="5">
                  <c:v>2.5</c:v>
                </c:pt>
                <c:pt idx="6">
                  <c:v>2.6</c:v>
                </c:pt>
                <c:pt idx="7">
                  <c:v>2.5</c:v>
                </c:pt>
                <c:pt idx="8">
                  <c:v>2.5</c:v>
                </c:pt>
                <c:pt idx="9">
                  <c:v>2.6</c:v>
                </c:pt>
                <c:pt idx="10">
                  <c:v>2.6</c:v>
                </c:pt>
                <c:pt idx="11">
                  <c:v>2.6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55A6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55A6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dashboard1.jpeg"/><Relationship Id="rId3" Type="http://schemas.openxmlformats.org/officeDocument/2006/relationships/image" Target="../media/dashboard2.jpeg"/><Relationship Id="rId4" Type="http://schemas.openxmlformats.org/officeDocument/2006/relationships/image" Target="../media/dashboard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0077B6">
              <a:alpha val="15000"/>
            </a:srgbClr>
          </a:solidFill>
          <a:ln w="12700">
            <a:solidFill>
              <a:srgbClr val="0077B6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3200400"/>
            <a:ext cx="2743200" cy="2743200"/>
          </a:xfrm>
          <a:prstGeom prst="ellipse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>
                <a:alpha val="1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0292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spc="1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UBER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 Analysis Project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21488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Analysis Project Using BI &amp; SQL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2651760"/>
            <a:ext cx="5029200" cy="36576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880360"/>
            <a:ext cx="1554480" cy="36576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8803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148840" y="2880360"/>
            <a:ext cx="1554480" cy="36576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48840" y="28803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840480" y="2880360"/>
            <a:ext cx="1554480" cy="36576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0" y="28803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532120" y="2880360"/>
            <a:ext cx="1554480" cy="36576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32120" y="28803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223760" y="2880360"/>
            <a:ext cx="1554480" cy="36576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23760" y="28803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Project  |  Data Analyst Portfolio  |  Tools: Power BI + SQL Server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777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end-to-end data analytics project analyzing Uber ride operations using SQL Server as the backend database and Power BI for interactive visual dashboards built for real-world business insights.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691640"/>
            <a:ext cx="27889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691640"/>
            <a:ext cx="2788920" cy="10972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84708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Goal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2304288"/>
            <a:ext cx="2514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ride performance across vehicle types, locations, time slots and payment methods to drive data-driven decisions.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1691640"/>
            <a:ext cx="27889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691640"/>
            <a:ext cx="2788920" cy="109728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84708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Stack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37560" y="2304288"/>
            <a:ext cx="2514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for ETL and data modeling. Power BI + DAX for KPI dashboards, visuals and interactive reports.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691640"/>
            <a:ext cx="278892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691640"/>
            <a:ext cx="2788920" cy="109728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184708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Outcome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63640" y="2304288"/>
            <a:ext cx="2514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56K+ bookings, 31M revenue insights with customer segmentation, payment trends and operational dashboards.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4754880"/>
            <a:ext cx="82296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 Cab Analysis  |  Power BI + SQL Project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777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PERFORMANCE INDICATORS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788920" cy="1737360"/>
          </a:xfrm>
          <a:prstGeom prst="rect">
            <a:avLst/>
          </a:prstGeom>
          <a:solidFill>
            <a:srgbClr val="1E293B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91440" cy="1737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2471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56K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176479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Bookings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1488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completed rides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960120"/>
            <a:ext cx="2788920" cy="1737360"/>
          </a:xfrm>
          <a:prstGeom prst="rect">
            <a:avLst/>
          </a:prstGeom>
          <a:solidFill>
            <a:srgbClr val="1E293B"/>
          </a:solidFill>
          <a:ln w="19050">
            <a:solidFill>
              <a:srgbClr val="FF6D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960120"/>
            <a:ext cx="91440" cy="1737360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12471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D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34K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383280" y="176479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Bookings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83280" y="21488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 and incomplete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960120"/>
            <a:ext cx="2788920" cy="1737360"/>
          </a:xfrm>
          <a:prstGeom prst="rect">
            <a:avLst/>
          </a:prstGeom>
          <a:solidFill>
            <a:srgbClr val="1E293B"/>
          </a:solidFill>
          <a:ln w="19050">
            <a:solidFill>
              <a:srgbClr val="00C8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960120"/>
            <a:ext cx="91440" cy="1737360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112471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C8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31M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309360" y="176479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09360" y="21488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revenue generated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971800"/>
            <a:ext cx="2788920" cy="1737360"/>
          </a:xfrm>
          <a:prstGeom prst="rect">
            <a:avLst/>
          </a:prstGeom>
          <a:solidFill>
            <a:srgbClr val="1E293B"/>
          </a:solidFill>
          <a:ln w="19050">
            <a:solidFill>
              <a:srgbClr val="E040F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971800"/>
            <a:ext cx="91440" cy="1737360"/>
          </a:xfrm>
          <a:prstGeom prst="rect">
            <a:avLst/>
          </a:prstGeom>
          <a:solidFill>
            <a:srgbClr val="E040FB"/>
          </a:solidFill>
          <a:ln w="12700">
            <a:solidFill>
              <a:srgbClr val="E040F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13639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40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1.51M km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457200" y="377647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Distance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1605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all rides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0" y="2971800"/>
            <a:ext cx="2788920" cy="1737360"/>
          </a:xfrm>
          <a:prstGeom prst="rect">
            <a:avLst/>
          </a:prstGeom>
          <a:solidFill>
            <a:srgbClr val="1E293B"/>
          </a:solidFill>
          <a:ln w="19050">
            <a:solidFill>
              <a:srgbClr val="FF52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0" y="2971800"/>
            <a:ext cx="91440" cy="1737360"/>
          </a:xfrm>
          <a:prstGeom prst="rect">
            <a:avLst/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83280" y="313639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525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24.67 km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3383280" y="377647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Distance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383280" y="41605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ride average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26480" y="2971800"/>
            <a:ext cx="2788920" cy="1737360"/>
          </a:xfrm>
          <a:prstGeom prst="rect">
            <a:avLst/>
          </a:prstGeom>
          <a:solidFill>
            <a:srgbClr val="1E293B"/>
          </a:solidFill>
          <a:ln w="19050">
            <a:solidFill>
              <a:srgbClr val="FFD6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26480" y="2971800"/>
            <a:ext cx="91440" cy="1737360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9360" y="313639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D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4.41</a:t>
            </a:r>
            <a:endParaRPr lang="en-US" sz="3000" dirty="0"/>
          </a:p>
        </p:txBody>
      </p:sp>
      <p:sp>
        <p:nvSpPr>
          <p:cNvPr id="33" name="Text 31"/>
          <p:cNvSpPr/>
          <p:nvPr/>
        </p:nvSpPr>
        <p:spPr>
          <a:xfrm>
            <a:off x="6309360" y="377647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Rating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309360" y="41605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customer rating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777240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VEHICLE TYPE PERFORMANCE</a:t>
            </a:r>
            <a:endParaRPr lang="en-US" sz="2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960120"/>
          <a:ext cx="530352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1097280"/>
          <a:ext cx="31089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914400"/>
                <a:gridCol w="82296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Vehicle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Bookings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23,128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C8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12.9M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 Mini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18,529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C8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10.3M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 Sedan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15,200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9.5M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Bike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7.8M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9,800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6.2M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Uber XL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4,449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632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0B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760720" y="4206240"/>
            <a:ext cx="3108960" cy="502920"/>
          </a:xfrm>
          <a:prstGeom prst="rect">
            <a:avLst/>
          </a:prstGeom>
          <a:solidFill>
            <a:srgbClr val="1A1A2E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5897880" y="42062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leads | Go Mini = top sedan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77724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CUSTOMER SEGMENTATION</a:t>
            </a:r>
            <a:endParaRPr lang="en-US" sz="2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960120"/>
          <a:ext cx="420624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4754880" y="960120"/>
            <a:ext cx="4114800" cy="1143000"/>
          </a:xfrm>
          <a:prstGeom prst="rect">
            <a:avLst/>
          </a:prstGeom>
          <a:solidFill>
            <a:srgbClr val="1E293B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754880" y="960120"/>
            <a:ext cx="91440" cy="1143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892040" y="1033272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42%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5760720" y="103327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Time Rider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892040" y="15544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users on their first ride. Prime target for retention offers and referral campaigns.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754880" y="2258568"/>
            <a:ext cx="4114800" cy="1143000"/>
          </a:xfrm>
          <a:prstGeom prst="rect">
            <a:avLst/>
          </a:prstGeom>
          <a:solidFill>
            <a:srgbClr val="1E293B"/>
          </a:solidFill>
          <a:ln w="19050">
            <a:solidFill>
              <a:srgbClr val="FF6D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4880" y="2258568"/>
            <a:ext cx="91440" cy="1143000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92040" y="233172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6D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28%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5760720" y="233172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Rider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892040" y="285292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Took exactly two rides. Convert them to regular riders with loyalty rewards.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754880" y="3557016"/>
            <a:ext cx="4114800" cy="1143000"/>
          </a:xfrm>
          <a:prstGeom prst="rect">
            <a:avLst/>
          </a:prstGeom>
          <a:solidFill>
            <a:srgbClr val="1E293B"/>
          </a:solidFill>
          <a:ln w="19050">
            <a:solidFill>
              <a:srgbClr val="00C8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754880" y="3557016"/>
            <a:ext cx="91440" cy="1143000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892040" y="3630168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C8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30%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5760720" y="363016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Rider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892040" y="415137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users with 3+ rides. Core revenue drivers — prioritize VIP service.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6213E"/>
          </a:solidFill>
          <a:ln w="12700">
            <a:solidFill>
              <a:srgbClr val="1621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777240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PAYMENT METHODS &amp; BOOKING TRENDS</a:t>
            </a:r>
            <a:endParaRPr lang="en-US" sz="2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914400"/>
          <a:ext cx="411480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4663440" y="914400"/>
          <a:ext cx="420624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274320" y="3931920"/>
            <a:ext cx="2788920" cy="868680"/>
          </a:xfrm>
          <a:prstGeom prst="rect">
            <a:avLst/>
          </a:prstGeom>
          <a:solidFill>
            <a:srgbClr val="1A1A2E"/>
          </a:solidFill>
          <a:ln w="19050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274320" y="3931920"/>
            <a:ext cx="91440" cy="86868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57200" y="3959352"/>
            <a:ext cx="2651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Dominates - 55%+ of all payments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200400" y="3931920"/>
            <a:ext cx="2788920" cy="868680"/>
          </a:xfrm>
          <a:prstGeom prst="rect">
            <a:avLst/>
          </a:prstGeom>
          <a:solidFill>
            <a:srgbClr val="1A1A2E"/>
          </a:solidFill>
          <a:ln w="19050">
            <a:solidFill>
              <a:srgbClr val="00C8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200400" y="3931920"/>
            <a:ext cx="91440" cy="868680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383280" y="3959352"/>
            <a:ext cx="2651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Revenue - ~2.5M every month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126480" y="3931920"/>
            <a:ext cx="2788920" cy="868680"/>
          </a:xfrm>
          <a:prstGeom prst="rect">
            <a:avLst/>
          </a:prstGeom>
          <a:solidFill>
            <a:srgbClr val="1A1A2E"/>
          </a:solidFill>
          <a:ln w="19050">
            <a:solidFill>
              <a:srgbClr val="FF6D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126480" y="3931920"/>
            <a:ext cx="91440" cy="868680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309360" y="3959352"/>
            <a:ext cx="2651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Still Relevant - 28% of transactions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777240"/>
          </a:xfrm>
          <a:prstGeom prst="rect">
            <a:avLst/>
          </a:prstGeom>
          <a:solidFill>
            <a:srgbClr val="E040FB"/>
          </a:solidFill>
          <a:ln w="12700">
            <a:solidFill>
              <a:srgbClr val="E040F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TECHNICAL ARCHITECTURE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1097280"/>
            <a:ext cx="1463040" cy="1554480"/>
          </a:xfrm>
          <a:prstGeom prst="rect">
            <a:avLst/>
          </a:prstGeom>
          <a:solidFill>
            <a:srgbClr val="1E293B"/>
          </a:solidFill>
          <a:ln w="25400">
            <a:solidFill>
              <a:srgbClr val="FF52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97280"/>
            <a:ext cx="1463040" cy="109728"/>
          </a:xfrm>
          <a:prstGeom prst="rect">
            <a:avLst/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2344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1673352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/ Excel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Files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691640" y="1801368"/>
            <a:ext cx="594360" cy="45720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57400" y="1097280"/>
            <a:ext cx="1463040" cy="1554480"/>
          </a:xfrm>
          <a:prstGeom prst="rect">
            <a:avLst/>
          </a:prstGeom>
          <a:solidFill>
            <a:srgbClr val="1E293B"/>
          </a:solidFill>
          <a:ln w="25400">
            <a:solidFill>
              <a:srgbClr val="FF6D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57400" y="1097280"/>
            <a:ext cx="1463040" cy="109728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03120" y="12344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03120" y="1673352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ETL, Cleaning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Modeling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520440" y="1801368"/>
            <a:ext cx="594360" cy="45720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86200" y="1097280"/>
            <a:ext cx="1463040" cy="1554480"/>
          </a:xfrm>
          <a:prstGeom prst="rect">
            <a:avLst/>
          </a:prstGeom>
          <a:solidFill>
            <a:srgbClr val="1E293B"/>
          </a:solidFill>
          <a:ln w="25400">
            <a:solidFill>
              <a:srgbClr val="E040F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886200" y="1097280"/>
            <a:ext cx="1463040" cy="109728"/>
          </a:xfrm>
          <a:prstGeom prst="rect">
            <a:avLst/>
          </a:prstGeom>
          <a:solidFill>
            <a:srgbClr val="E040FB"/>
          </a:solidFill>
          <a:ln w="12700">
            <a:solidFill>
              <a:srgbClr val="E040F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31920" y="12344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40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931920" y="1673352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349240" y="1801368"/>
            <a:ext cx="594360" cy="45720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15000" y="1097280"/>
            <a:ext cx="1463040" cy="1554480"/>
          </a:xfrm>
          <a:prstGeom prst="rect">
            <a:avLst/>
          </a:prstGeom>
          <a:solidFill>
            <a:srgbClr val="1E293B"/>
          </a:solidFill>
          <a:ln w="25400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715000" y="1097280"/>
            <a:ext cx="1463040" cy="10972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60720" y="12344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760720" y="1673352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Visuals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178040" y="1801368"/>
            <a:ext cx="594360" cy="45720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543800" y="1097280"/>
            <a:ext cx="1463040" cy="1554480"/>
          </a:xfrm>
          <a:prstGeom prst="rect">
            <a:avLst/>
          </a:prstGeom>
          <a:solidFill>
            <a:srgbClr val="1E293B"/>
          </a:solidFill>
          <a:ln w="25400">
            <a:solidFill>
              <a:srgbClr val="00C8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543800" y="1097280"/>
            <a:ext cx="1463040" cy="109728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89520" y="12344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589520" y="1673352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2926080"/>
            <a:ext cx="4114800" cy="1874520"/>
          </a:xfrm>
          <a:prstGeom prst="rect">
            <a:avLst/>
          </a:prstGeom>
          <a:solidFill>
            <a:srgbClr val="1E293B"/>
          </a:solidFill>
          <a:ln w="19050">
            <a:solidFill>
              <a:srgbClr val="FF6D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2926080"/>
            <a:ext cx="4114800" cy="109728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30632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— Key Work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11480" y="3493008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-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Imported and cleaned raw CSV source data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11480" y="3739896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-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relational tables with primary/foreign keys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11480" y="3986784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-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stored procedures and complex JOIN queries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11480" y="4233672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-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KPIs: revenue, distance, booking counts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754880" y="2926080"/>
            <a:ext cx="4114800" cy="1874520"/>
          </a:xfrm>
          <a:prstGeom prst="rect">
            <a:avLst/>
          </a:prstGeom>
          <a:solidFill>
            <a:srgbClr val="1E293B"/>
          </a:solidFill>
          <a:ln w="19050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54880" y="2926080"/>
            <a:ext cx="4114800" cy="10972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92040" y="30632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— Key Work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892040" y="3493008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-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live to SQL Server database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892040" y="3739896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-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star schema relational data model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892040" y="3986784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-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15+ DAX measures for business KPIs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892040" y="4233672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-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4 interactive dashboard report pages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777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DASHBOARD HIGHLIGHTS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2519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4251960" cy="10972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124712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77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005840" y="11430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Dashboard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1618488"/>
            <a:ext cx="3977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Top-level KPIs: 56K bookings, 31M revenue, 1.51M km. Quarterly trend chart and vehicle-wise revenue breakdown.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960120"/>
            <a:ext cx="42519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960120"/>
            <a:ext cx="4251960" cy="109728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64608" y="1124712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6D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486400" y="11430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Analysis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92040" y="1618488"/>
            <a:ext cx="3977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booking value trends, peak time slot analysis (12AM-3AM), and top customer IDs by booking volume.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971800"/>
            <a:ext cx="42519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971800"/>
            <a:ext cx="4251960" cy="109728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3136392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B2FB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005840" y="31546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Dashboard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11480" y="3630168"/>
            <a:ext cx="3977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 segmentation (First Time, Return, Regular), customer ratings 4.41 avg, location-wise ride performance.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2971800"/>
            <a:ext cx="42519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971800"/>
            <a:ext cx="4251960" cy="109728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64608" y="3136392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C85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5486400" y="31546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&amp; Payments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892040" y="3630168"/>
            <a:ext cx="3977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55A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 breakdown (UPI 55%+), pickup location by payment type, and cancelled vs incomplete analysis.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754880"/>
            <a:ext cx="82296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dashboards are fully interactive with slicers for Vehicle Type, Date and Driver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777240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BUSINESS INSIGHTS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788920" cy="1783080"/>
          </a:xfrm>
          <a:prstGeom prst="rect">
            <a:avLst/>
          </a:prstGeom>
          <a:solidFill>
            <a:srgbClr val="1E293B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278892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2471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Dominates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55448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Auto-rickshaw top vehicle with 23,128 bookings — 40% of all completed rides.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960120"/>
            <a:ext cx="2788920" cy="1783080"/>
          </a:xfrm>
          <a:prstGeom prst="rect">
            <a:avLst/>
          </a:prstGeom>
          <a:solidFill>
            <a:srgbClr val="1E293B"/>
          </a:solidFill>
          <a:ln w="19050">
            <a:solidFill>
              <a:srgbClr val="00C85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960120"/>
            <a:ext cx="2788920" cy="73152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12471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is King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37560" y="155448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55% of all payments via UPI — strong digital payment adoption.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960120"/>
            <a:ext cx="2788920" cy="1783080"/>
          </a:xfrm>
          <a:prstGeom prst="rect">
            <a:avLst/>
          </a:prstGeom>
          <a:solidFill>
            <a:srgbClr val="1E293B"/>
          </a:solidFill>
          <a:ln w="19050">
            <a:solidFill>
              <a:srgbClr val="FFD6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960120"/>
            <a:ext cx="2788920" cy="73152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112471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Satisfaction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63640" y="155448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rating 4.41 and driver rating 4.23 — strong service quality.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2926080"/>
            <a:ext cx="2788920" cy="1783080"/>
          </a:xfrm>
          <a:prstGeom prst="rect">
            <a:avLst/>
          </a:prstGeom>
          <a:solidFill>
            <a:srgbClr val="1E293B"/>
          </a:solidFill>
          <a:ln w="19050">
            <a:solidFill>
              <a:srgbClr val="FF525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926080"/>
            <a:ext cx="2788920" cy="73152"/>
          </a:xfrm>
          <a:prstGeom prst="rect">
            <a:avLst/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09067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Booking Risk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11480" y="352044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34K lost bookings out of 90K total (38%). Reducing this is top revenue opportunity.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0" y="2926080"/>
            <a:ext cx="2788920" cy="1783080"/>
          </a:xfrm>
          <a:prstGeom prst="rect">
            <a:avLst/>
          </a:prstGeom>
          <a:solidFill>
            <a:srgbClr val="1E293B"/>
          </a:solidFill>
          <a:ln w="19050">
            <a:solidFill>
              <a:srgbClr val="7B2F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0" y="2926080"/>
            <a:ext cx="2788920" cy="73152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309067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 Peak Hours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37560" y="352044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12AM-3AM is busiest slot with 74,747 bookings — late-night demand is huge.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26480" y="2926080"/>
            <a:ext cx="2788920" cy="1783080"/>
          </a:xfrm>
          <a:prstGeom prst="rect">
            <a:avLst/>
          </a:prstGeom>
          <a:solidFill>
            <a:srgbClr val="1E293B"/>
          </a:solidFill>
          <a:ln w="19050">
            <a:solidFill>
              <a:srgbClr val="FF6D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26480" y="2926080"/>
            <a:ext cx="2788920" cy="73152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63640" y="309067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Revenue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63640" y="352044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2.5M per month with strong Q4 surge — seasonality is key factor.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1371600"/>
            <a:ext cx="4572000" cy="4572000"/>
          </a:xfrm>
          <a:prstGeom prst="ellipse">
            <a:avLst/>
          </a:prstGeom>
          <a:solidFill>
            <a:srgbClr val="0077B6">
              <a:alpha val="12000"/>
            </a:srgbClr>
          </a:solidFill>
          <a:ln w="12700">
            <a:solidFill>
              <a:srgbClr val="0077B6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3474720"/>
            <a:ext cx="3200400" cy="3200400"/>
          </a:xfrm>
          <a:prstGeom prst="ellipse">
            <a:avLst/>
          </a:prstGeom>
          <a:solidFill>
            <a:srgbClr val="00B4D8">
              <a:alpha val="10000"/>
            </a:srgbClr>
          </a:solidFill>
          <a:ln w="12700">
            <a:solidFill>
              <a:srgbClr val="00B4D8">
                <a:alpha val="1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008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 Cab Analysis — End-to-End Data Analysis Project Using BI &amp; SQL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5029200" cy="36576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51460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 Used: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926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-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SQL Server — Data Storage &amp; ETL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2004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-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Desktop — Interactive Dashboards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4747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-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— Data Analysis Expressions for KPIs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749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-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Modeling — Star Schema Design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0233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-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Pipeline — Extract, Transform, Load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343400"/>
            <a:ext cx="6400800" cy="502920"/>
          </a:xfrm>
          <a:prstGeom prst="rect">
            <a:avLst/>
          </a:prstGeom>
          <a:solidFill>
            <a:srgbClr val="1E293B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3434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Project  |  Data Analyst Role  |  [Your Name]  |  [email@example.com]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Bar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A2E"/>
          </a:solidFill>
        </p:spPr>
      </p:sp>
      <p:sp>
        <p:nvSpPr>
          <p:cNvPr id="3" name="Title"/>
          <p:cNvSpPr/>
          <p:nvPr/>
        </p:nvSpPr>
        <p:spPr>
          <a:xfrm>
            <a:off x="304800" y="152400"/>
            <a:ext cx="7000000" cy="4572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800" b="1" dirty="0">
                <a:solidFill>
                  <a:srgbClr val="FFFFFF"/>
                </a:solidFill>
                <a:latin typeface="Calibri"/>
              </a:rPr>
              <a:t>POWER BI DASHBOARD SCREENSHOTS</a:t>
            </a:r>
          </a:p>
        </p:txBody>
      </p:sp>
      <p:sp>
        <p:nvSpPr>
          <p:cNvPr id="4" name="Tag"/>
          <p:cNvSpPr/>
          <p:nvPr/>
        </p:nvSpPr>
        <p:spPr>
          <a:xfrm>
            <a:off x="7500000" y="228600"/>
            <a:ext cx="1400000" cy="304800"/>
          </a:xfrm>
          <a:prstGeom prst="roundRect">
            <a:avLst>
              <a:gd name="adj" fmla="val 16667"/>
            </a:avLst>
          </a:prstGeom>
          <a:solidFill>
            <a:srgbClr val="0077B6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/>
              </a:rPr>
              <a:t>Live Dashboards</a:t>
            </a:r>
          </a:p>
        </p:txBody>
      </p:sp>
      <p:sp>
        <p:nvSpPr>
          <p:cNvPr id="5" name="Label1"/>
          <p:cNvSpPr/>
          <p:nvPr/>
        </p:nvSpPr>
        <p:spPr>
          <a:xfrm>
            <a:off x="152400" y="838200"/>
            <a:ext cx="2743200" cy="26670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/>
              </a:rPr>
              <a:t>Overview Dashboard</a:t>
            </a:r>
          </a:p>
        </p:txBody>
      </p:sp>
      <p:pic>
        <p:nvPicPr>
          <p:cNvPr id="6" name="Dashboard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104900"/>
            <a:ext cx="2743200" cy="1543050"/>
          </a:xfrm>
          <a:prstGeom prst="rect">
            <a:avLst/>
          </a:prstGeom>
          <a:ln w="19050">
            <a:solidFill>
              <a:srgbClr val="0077B6"/>
            </a:solidFill>
          </a:ln>
        </p:spPr>
      </p:pic>
      <p:sp>
        <p:nvSpPr>
          <p:cNvPr id="7" name="Label2"/>
          <p:cNvSpPr/>
          <p:nvPr/>
        </p:nvSpPr>
        <p:spPr>
          <a:xfrm>
            <a:off x="3200400" y="838200"/>
            <a:ext cx="2743200" cy="2667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/>
              </a:rPr>
              <a:t>Driver &amp; Vehicle Analysis</a:t>
            </a:r>
          </a:p>
        </p:txBody>
      </p:sp>
      <p:pic>
        <p:nvPicPr>
          <p:cNvPr id="8" name="Dashboard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1104900"/>
            <a:ext cx="2743200" cy="1543050"/>
          </a:xfrm>
          <a:prstGeom prst="rect">
            <a:avLst/>
          </a:prstGeom>
          <a:ln w="19050">
            <a:solidFill>
              <a:srgbClr val="1A1A2E"/>
            </a:solidFill>
          </a:ln>
        </p:spPr>
      </p:pic>
      <p:sp>
        <p:nvSpPr>
          <p:cNvPr id="9" name="Label3"/>
          <p:cNvSpPr/>
          <p:nvPr/>
        </p:nvSpPr>
        <p:spPr>
          <a:xfrm>
            <a:off x="6248400" y="838200"/>
            <a:ext cx="2743200" cy="26670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/>
              </a:rPr>
              <a:t>Payment &amp; Location Analysis</a:t>
            </a:r>
          </a:p>
        </p:txBody>
      </p:sp>
      <p:pic>
        <p:nvPicPr>
          <p:cNvPr id="10" name="Dashboard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1104900"/>
            <a:ext cx="2743200" cy="1543050"/>
          </a:xfrm>
          <a:prstGeom prst="rect">
            <a:avLst/>
          </a:prstGeom>
          <a:ln w="19050">
            <a:solidFill>
              <a:srgbClr val="0077B6"/>
            </a:solidFill>
          </a:ln>
        </p:spPr>
      </p:pic>
      <p:sp>
        <p:nvSpPr>
          <p:cNvPr id="11" name="BottomBar"/>
          <p:cNvSpPr/>
          <p:nvPr/>
        </p:nvSpPr>
        <p:spPr>
          <a:xfrm>
            <a:off x="0" y="2743200"/>
            <a:ext cx="9144000" cy="6858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txBody>
          <a:bodyPr anchor="ctr"/>
          <a:lstStyle/>
          <a:p>
            <a:pPr algn="ctr"/>
            <a:r>
              <a:rPr lang="en-US" sz="1300" b="0" dirty="0">
                <a:solidFill>
                  <a:srgbClr val="90A4AE"/>
                </a:solidFill>
                <a:latin typeface="Calibri"/>
              </a:rPr>
              <a:t>Connected to SQL Server Database  |  Built with Power BI Desktop  |  4 Interactive Dashboard Pages  |  15+ DAX Measures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Uber Cab Analysis</dc:title>
  <dc:subject>PptxGenJS Presentation</dc:subject>
  <dc:creator>PptxGenJS</dc:creator>
  <cp:lastModifiedBy>PptxGenJS</cp:lastModifiedBy>
  <cp:revision>1</cp:revision>
  <dcterms:created xsi:type="dcterms:W3CDTF">2026-04-01T16:59:49Z</dcterms:created>
  <dcterms:modified xsi:type="dcterms:W3CDTF">2026-04-01T16:59:49Z</dcterms:modified>
</cp:coreProperties>
</file>